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$/m² Mediana</c:v>
                </c:pt>
              </c:strCache>
            </c:strRef>
          </c:tx>
          <c:spPr>
            <a:solidFill>
              <a:srgbClr val="E8E2D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E2D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906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E2D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E2D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E2D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Eq. Norte (26 uds)</c:v>
                  </c:pt>
                  <c:pt idx="1">
                    <c:v>Eq. Centro (140 uds)</c:v>
                  </c:pt>
                  <c:pt idx="2">
                    <c:v>Sirari (54 uds)</c:v>
                  </c:pt>
                  <c:pt idx="3">
                    <c:v>Eq. Oeste (48 uds)</c:v>
                  </c:pt>
                  <c:pt idx="4">
                    <c:v>V. Brígida (43 uds)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2317</c:v>
                </c:pt>
                <c:pt idx="1">
                  <c:v>2088</c:v>
                </c:pt>
                <c:pt idx="2">
                  <c:v>1991</c:v>
                </c:pt>
                <c:pt idx="3">
                  <c:v>1900</c:v>
                </c:pt>
                <c:pt idx="4">
                  <c:v>1866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28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$/m² Mediana Mercado</c:v>
                </c:pt>
              </c:strCache>
            </c:strRef>
          </c:tx>
          <c:spPr>
            <a:solidFill>
              <a:srgbClr val="E8E2D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Mono (0D)</c:v>
                  </c:pt>
                  <c:pt idx="1">
                    <c:v>1 Dorm</c:v>
                  </c:pt>
                  <c:pt idx="2">
                    <c:v>2 Dorms</c:v>
                  </c:pt>
                  <c:pt idx="3">
                    <c:v>3 Dorms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2324</c:v>
                </c:pt>
                <c:pt idx="1">
                  <c:v>2141</c:v>
                </c:pt>
                <c:pt idx="2">
                  <c:v>2055</c:v>
                </c:pt>
                <c:pt idx="3">
                  <c:v>2001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Condado VI $/m²</c:v>
                </c:pt>
              </c:strCache>
            </c:strRef>
          </c:tx>
          <c:spPr>
            <a:solidFill>
              <a:srgbClr val="B8906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Mono (0D)</c:v>
                  </c:pt>
                  <c:pt idx="1">
                    <c:v>1 Dorm</c:v>
                  </c:pt>
                  <c:pt idx="2">
                    <c:v>2 Dorms</c:v>
                  </c:pt>
                  <c:pt idx="3">
                    <c:v>3 Dorms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2241</c:v>
                </c:pt>
                <c:pt idx="2">
                  <c:v>2241</c:v>
                </c:pt>
                <c:pt idx="3">
                  <c:v>2241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28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8E2DA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C282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Condado VI</c:v>
                </c:pt>
              </c:strCache>
            </c:strRef>
          </c:tx>
          <c:spPr>
            <a:solidFill>
              <a:srgbClr val="B8906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1D</c:v>
                  </c:pt>
                  <c:pt idx="1">
                    <c:v>2D</c:v>
                  </c:pt>
                  <c:pt idx="2">
                    <c:v>3D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2241</c:v>
                </c:pt>
                <c:pt idx="1">
                  <c:v>2241</c:v>
                </c:pt>
                <c:pt idx="2">
                  <c:v>2241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Terrazzo</c:v>
                </c:pt>
              </c:strCache>
            </c:strRef>
          </c:tx>
          <c:spPr>
            <a:solidFill>
              <a:srgbClr val="E8E2D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1D</c:v>
                  </c:pt>
                  <c:pt idx="1">
                    <c:v>2D</c:v>
                  </c:pt>
                  <c:pt idx="2">
                    <c:v>3D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2000</c:v>
                </c:pt>
                <c:pt idx="1">
                  <c:v>2210</c:v>
                </c:pt>
                <c:pt idx="2">
                  <c:v>2105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282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C282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ESTUDIO DE MERCADO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AF7F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Condado VI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Plaza Italia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0" y="3931920"/>
            <a:ext cx="914400" cy="1371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420624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000" b="1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Cliente: </a:t>
            </a:r>
            <a:pPr algn="ctr" indent="0" marL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Proinco / Constructora Condado
</a:t>
            </a:r>
            <a:pPr algn="ctr" indent="0" marL="0">
              <a:lnSpc>
                <a:spcPct val="180000"/>
              </a:lnSpc>
              <a:buNone/>
            </a:pPr>
            <a:r>
              <a:rPr lang="en-US" sz="1000" b="1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Fecha: </a:t>
            </a:r>
            <a:pPr algn="ctr" indent="0" marL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de marzo de 2026
</a:t>
            </a:r>
            <a:pPr algn="ctr" indent="0" marL="0">
              <a:lnSpc>
                <a:spcPct val="180000"/>
              </a:lnSpc>
              <a:buNone/>
            </a:pPr>
            <a:r>
              <a:rPr lang="en-US" sz="1000" b="1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Fuente: </a:t>
            </a:r>
            <a:pPr algn="ctr" indent="0" marL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SICI — 311 unidades verificadas con GPS
</a:t>
            </a:r>
            <a:pPr algn="ctr" indent="0" marL="0">
              <a:lnSpc>
                <a:spcPct val="180000"/>
              </a:lnSpc>
              <a:buNone/>
            </a:pPr>
            <a:r>
              <a:rPr lang="en-US" sz="1000" b="1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TC Paralelo: </a:t>
            </a:r>
            <a:pPr algn="ctr" indent="0" marL="0">
              <a:lnSpc>
                <a:spcPct val="180000"/>
              </a:lnSpc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Bs 9.454/USD (Binance P2P)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0" y="5669280"/>
            <a:ext cx="914400" cy="1371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6217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SICI — Sistema Inteligente de Captura Inmobiliaria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459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PANORAMA EQUIPETROL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6517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8E2DA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311
</a:t>
            </a:r>
            <a:pPr algn="ctr"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Unidades activas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1097280"/>
            <a:ext cx="26517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8E2DA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$2,033
</a:t>
            </a:r>
            <a:pPr algn="ctr"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Mediana $/m²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0" y="1097280"/>
            <a:ext cx="26517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8E2DA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$162K
</a:t>
            </a:r>
            <a:pPr algn="ctr"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Ticket promedio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0" y="2743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
</a:t>
            </a:r>
            <a:pPr algn="ctr"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microzonas monitoreadas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Equipetrol Centro · Sirari · Eq. Norte · Eq. Oeste · Villa Brígida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4754880"/>
            <a:ext cx="914400" cy="9144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Corte: 12 de marzo de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COMPARATIVO POR ZONA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Precio por zona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Mediana $/m² normalizado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645920"/>
          <a:ext cx="8229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VI: $2,241/m² → percentil 55-70 del mercado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453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TENDENCIA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Febrero → Marzo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6517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8E2DA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+11%
</a:t>
            </a:r>
            <a:pPr algn="ctr"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Oferta</a:t>
            </a:r>
            <a:endParaRPr lang="en-US" sz="4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280 → 311 uds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200400" y="1645920"/>
            <a:ext cx="26517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8E2DA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E2D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-1.1%
</a:t>
            </a:r>
            <a:pPr algn="ctr"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$/m² mediana</a:t>
            </a:r>
            <a:endParaRPr lang="en-US" sz="4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$2,055 → $2,033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943600" y="1645920"/>
            <a:ext cx="26517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8E2DA">
                <a:alpha val="3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E2D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+1.3%
</a:t>
            </a:r>
            <a:pPr algn="ctr"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TC paralelo</a:t>
            </a:r>
            <a:endParaRPr lang="en-US" sz="4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9.33 → 9.454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Más oferta + precios estables = mercado de compradores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ZOOM EQUIPETROL CENTRO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26517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8E2DA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140
</a:t>
            </a:r>
            <a:pPr algn="ctr"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Unidades activas</a:t>
            </a:r>
            <a:endParaRPr lang="en-US" sz="2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45% del mercado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0" y="731520"/>
            <a:ext cx="26517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8E2DA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62
</a:t>
            </a:r>
            <a:pPr algn="ctr"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Proyectos distintos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0" y="731520"/>
            <a:ext cx="2651760" cy="822960"/>
          </a:xfrm>
          <a:prstGeom prst="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8E2DA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$2,088
</a:t>
            </a:r>
            <a:pPr algn="ctr"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$/m² mediana</a:t>
            </a:r>
            <a:endParaRPr lang="en-US" sz="2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57200" y="237744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560320"/>
          <a:ext cx="30175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3152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Tipología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Uds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Ticket Avg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Mono (0D)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18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$107K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 Dorm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67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$111K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 Dorms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45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$188K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 Dorms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$323K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ABSORCION — MARZO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Donde está la demanda real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Mercado total (5 zonas) — Snapshot 12 Mar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64592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Tipología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Activas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Absorbidas 30d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Tasa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Meses Inv.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Monoambiente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45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11.8%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7.5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 Dormitorio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139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13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8.6%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10.7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 Dormitorios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98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2.0%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49.0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 Dormitorios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25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7.4%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12.5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93192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2D = 49 meses de inventario. </a:t>
            </a:r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1D y Mono son los segmentos con mayor rotación (8.6% y 11.8%). 3D tiene demanda sana con inventario chico (25 uds).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Bajas confirmadas Eq. Centro (30d): 17 uds — 10 de 1D, 5 mono, 2 de 2D, 0 de 3D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VELOCIDAD DE VENTA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Cuánto tardan en venderse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Días en mercado — Eq. Centro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371600"/>
                <a:gridCol w="13716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Tipología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Uds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Días Avg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Mediana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Rango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Mono (0D)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18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46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10–168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1D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67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57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3–275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2D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45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91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58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9–211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3D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58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22–147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931920"/>
            <a:ext cx="8229600" cy="548640"/>
          </a:xfrm>
          <a:prstGeom prst="rect">
            <a:avLst>
              <a:gd name="adj" fmla="val 10000"/>
            </a:avLst>
          </a:prstGeom>
          <a:solidFill>
            <a:srgbClr val="FAF7F2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Mono y 3D se venden más rápido </a:t>
            </a:r>
            <a:pPr indent="0" marL="0"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(mediana 32 y 50 días). 2D es el más lento con mayor dispersión (9–211 días).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SEÑALES DE ALERTA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Proyectos estancados en Eq. Centro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Todos son 2D · &gt;100 días promedio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1097280"/>
                <a:gridCol w="109728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Proyecto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Uds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$/m²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Días Avg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Señal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Sky Plaza Italia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$2,212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211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Vecino directo CVI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Luxe Tower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$3,014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195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Premium estancado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Uptown NUU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$2,810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168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Ultra-premium, nicho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HH Chuubi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$1,772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162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Preventa estancada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Domus Infinity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$2,463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155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Premium sin demanda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Atrium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7/10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$2,123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137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Mayor inventario 2D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solidFill>
            <a:srgbClr val="B8906F">
              <a:alpha val="1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Todos 2D. Todos &gt;$1,700/m². Sin rotación.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660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ENTREGADOS EQ. CENTRO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Donde compite Condado VI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proyectos entregados con 3+ unidades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"/>
                <a:gridCol w="1188720"/>
                <a:gridCol w="164592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Proyecto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Uds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$/m² Med.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Ticket Rango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Días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Luxe Suites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$2,796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$98–227K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Nano Smart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$2,446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$92–153K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68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Ed. Spazios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$2,541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$110–419K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25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Sky Plaza Italia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$2,212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$82–194K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112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▸ Condado VI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$2,212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$133–319K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88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Ed. Klug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$2,115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$135–156K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47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Atrium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$2,213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$99–220K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134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Torre Ara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$1,893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$176–293K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19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solidFill>
            <a:srgbClr val="B8906F">
              <a:alpha val="12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5029200"/>
            <a:ext cx="8229600" cy="457200"/>
          </a:xfrm>
          <a:prstGeom prst="rect">
            <a:avLst>
              <a:gd name="adj" fmla="val 12000"/>
            </a:avLst>
          </a:prstGeom>
          <a:solidFill>
            <a:srgbClr val="FAF7F2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2 competidores entregados ofrecen 3D. </a:t>
            </a:r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 3 unidades 3D de CVI ($323K) tienen poca competencia directa.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EQUIPAMIENTO DE UNIDAD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 departamento más equipado de Equipetrol Centro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188720"/>
                <a:gridCol w="137160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Condado VI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Atrium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Luxe Suites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Sky Plaza It.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Aire acondicionado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Cocina encimera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Campana extractora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○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○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Horno eléctrico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Heladera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○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○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Lavavajillas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○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○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○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Lavadora/Secadora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○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○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Calefón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Roperos empotrados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Box de baño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10/10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6/10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9/10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6/10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468880" y="1463040"/>
            <a:ext cx="1371600" cy="3511296"/>
          </a:xfrm>
          <a:prstGeom prst="rect">
            <a:avLst/>
          </a:prstGeom>
          <a:solidFill>
            <a:srgbClr val="B8906F">
              <a:alpha val="1000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61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AMENIDADES DE EDIFICIO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 brecha competitiva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AF7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Condado VI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4/8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 Piscina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 Gimnasio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 Churrasquera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 Salón de eventos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○  Co-working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 Seguridad 24/7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○  Espacio Zen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○  Sala de masajes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64592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FAF7F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737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Competencia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7/8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03520" y="265176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 Piscina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 Gimnasio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 Churrasquera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 Salón de eventos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 Co-working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 Seguridad 24/7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 Espacio Zen</a:t>
            </a:r>
            <a:endParaRPr lang="en-US" sz="11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●  Sala de masajes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035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Atrium 7/8 · Luxe Suites 7/8 · Sky Plaza Italia 5/8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264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COMPETIDOR CLAVE — TERRAZZO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Condado VI vs Terrazzo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Mismo micro-mercado · ~500m de distancia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Condado VI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Terrazzo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Entrega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Inmediata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Diciembre 2026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$/m² promedio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$2,241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~$2,078 (−7%)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Equipamiento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16 items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12 items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Amenidades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Tipologías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1D, 2D, 3D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Mono–3D, Dúplex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Disponibles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14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14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Vendidas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~11+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Interiorismo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—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Roberto Franco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303520"/>
            <a:ext cx="8229600" cy="9144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"Listo para vivir"</a:t>
            </a:r>
            <a:pPr algn="ctr" indent="0" marL="0">
              <a:buNone/>
            </a:pPr>
            <a:r>
              <a:rPr lang="en-US" sz="12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vs   </a:t>
            </a:r>
            <a:pPr algn="ctr" indent="0" marL="0">
              <a:buNone/>
            </a:pPr>
            <a:r>
              <a:rPr lang="en-US" sz="14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"Experiencia de edificio"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PRECIO POR TIPOLOGIA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Condado VI vs Terrazzo $/m²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Precios normalizados TC 9.454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64592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CVI cobra +7% pero incluye $3-5K en equipamiento. Diferencia real: +3-4%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BRECHA DE AMENIDADES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Donde Terrazzo supera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COMPARTEN (7)
</a:t>
            </a:r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Piscina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Gimnasio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Churrasquera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Salón de eventos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Seguridad 24/7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Ascensor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Terraza/Balcón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TERRAZZO (+5)
</a:t>
            </a:r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Sauna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Cocina de verano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Parque infantil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Fogatero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Pet Center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26280" y="1645920"/>
            <a:ext cx="9144" cy="3200400"/>
          </a:xfrm>
          <a:prstGeom prst="rect">
            <a:avLst/>
          </a:prstGeom>
          <a:solidFill>
            <a:srgbClr val="E8E2D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5486400"/>
            <a:ext cx="8229600" cy="457200"/>
          </a:xfrm>
          <a:prstGeom prst="rect">
            <a:avLst>
              <a:gd name="adj" fmla="val 12000"/>
            </a:avLst>
          </a:prstGeom>
          <a:solidFill>
            <a:srgbClr val="FFFFFF"/>
          </a:solidFill>
          <a:ln/>
        </p:spPr>
        <p:txBody>
          <a:bodyPr wrap="square" lIns="76200" tIns="127000" rIns="127000" bIns="762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Terrazzo tiene 2 pisos completos de áreas sociales. Principal vulnerabilidad de CVI en Plaza Italia.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459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MERCADO DE ALQUILER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Referencia de yield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Eq. Centro — 64 activos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4572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Tipología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Activos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Mediana/mes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Mono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$460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1D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24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$510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2D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$1,149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3D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$1,978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82880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0" y="182880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716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4.4%
</a:t>
            </a:r>
            <a:pPr algn="ctr"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1D · $510/mes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669280" y="301752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0" y="30175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7.1%
</a:t>
            </a:r>
            <a:pPr algn="ctr"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2D · $1,149/mes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669280" y="420624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FAF7F2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0" y="42062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7.3%
</a:t>
            </a:r>
            <a:pPr algn="ctr"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3D · $1,978/mes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57200" y="5486400"/>
            <a:ext cx="8229600" cy="274320"/>
          </a:xfrm>
          <a:prstGeom prst="rect">
            <a:avLst>
              <a:gd name="adj" fmla="val 13333"/>
            </a:avLst>
          </a:prstGeom>
          <a:solidFill>
            <a:srgbClr val="FAF7F2">
              <a:alpha val="50000"/>
            </a:srgbClr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Pipeline desde Feb 2026 · precios de lista · no garantiza ocupación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FORTALEZAS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 que tiene Condado VI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Equipamiento 10/10
</a:t>
            </a:r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Único con línea blanca completa en Eq. Centro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80160" y="224028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 inmediata
</a:t>
            </a:r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Competidores estancados o en preventa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30175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Plaza Italia
</a:t>
            </a:r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Corazón de Equipetrol Centro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3794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$2,241/m²
</a:t>
            </a:r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Equip. de Luxe Suites al precio de Atrium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45720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Poca competencia 3D
</a:t>
            </a:r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Solo 8 uds entregadas en Centro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5349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53492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1D más dinámico
</a:t>
            </a:r>
            <a:pPr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8.6% absorción, 13 ventas/mes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655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DEBILIDADES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Lo que debe resolver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E8E2D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4630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 presencia digital
</a:t>
            </a:r>
            <a:pPr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Brokers controlan la narrativa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305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E8E2D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13055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Material audiovisual inexistente
</a:t>
            </a:r>
            <a:pPr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 fotos profesionales ni video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9806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E8E2D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798064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Amenidades sin vestir
</a:t>
            </a:r>
            <a:pPr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Áreas comunes sin puesta en escena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6557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E8E2D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465576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Brecha amenidades: 4/8
</a:t>
            </a:r>
            <a:pPr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vs 7/8 de Atrium y Luxe Suites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E8E2D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13308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2D sobreofertado: 49 meses
</a:t>
            </a:r>
            <a:pPr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del inventario en segmento más lento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E8E2D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8006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Pet Friendly sin confirmar
</a:t>
            </a:r>
            <a:pPr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competidores directos SÍ lo son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468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E8E2D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5468112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Terrazzo: 12 vs 7 amenidades
</a:t>
            </a:r>
            <a:pPr indent="0" marL="0">
              <a:buNone/>
            </a:pPr>
            <a:r>
              <a:rPr lang="en-US" sz="10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Principal vulnerabilidad Plaza Italia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 DE ACCION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Qué hacer y cuándo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2697480" cy="594360"/>
          </a:xfrm>
          <a:prstGeom prst="roundRect">
            <a:avLst>
              <a:gd name="adj" fmla="val 9231"/>
            </a:avLst>
          </a:prstGeom>
          <a:solidFill>
            <a:srgbClr val="B8906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544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URGENTE
</a:t>
            </a:r>
            <a:pPr algn="ctr" indent="0" marL="0">
              <a:buNone/>
            </a:pPr>
            <a:r>
              <a:rPr lang="en-US" sz="9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Semana 1–2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33172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23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P0 · Vestir amenidades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fotos/video profesional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347472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66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P0 · Landing page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 redes sociales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554480"/>
            <a:ext cx="2697480" cy="594360"/>
          </a:xfrm>
          <a:prstGeom prst="roundRect">
            <a:avLst>
              <a:gd name="adj" fmla="val 9231"/>
            </a:avLst>
          </a:prstGeom>
          <a:solidFill>
            <a:srgbClr val="2C2824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5544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CORTO PLAZO
</a:t>
            </a:r>
            <a:pPr algn="ctr" indent="0" marL="0">
              <a:buNone/>
            </a:pPr>
            <a:r>
              <a:rPr lang="en-US" sz="9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33172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423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P1 · Kit profesional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brokers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47472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3566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P1 · Foco comercial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1D y 3D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461772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4709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P1 · Narrativa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"Listo para vivir"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554480"/>
            <a:ext cx="2697480" cy="594360"/>
          </a:xfrm>
          <a:prstGeom prst="roundRect">
            <a:avLst>
              <a:gd name="adj" fmla="val 9231"/>
            </a:avLst>
          </a:prstGeom>
          <a:solidFill>
            <a:srgbClr val="7A7168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5544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MEDIANO
</a:t>
            </a:r>
            <a:pPr algn="ctr" indent="0" marL="0">
              <a:buNone/>
            </a:pPr>
            <a:r>
              <a:rPr lang="en-US" sz="900" dirty="0">
                <a:solidFill>
                  <a:srgbClr val="FAF7F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 2–3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233172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2423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P2 · Monitoreo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competitivo mensual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474720"/>
            <a:ext cx="2606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56616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P2 · Confirmar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82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comunicar Pet Friendly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89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MATRIZ IMPACTO / ESFUERZO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C28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Priorizar lo que mueve la aguja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Condado VI Plaza Italia — Estudio de Mercado · Marzo 2026</a:t>
            </a:r>
            <a:endParaRPr lang="en-US" sz="7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84048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Prioridad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Acción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Impacto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Esfuerzo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Vestir amenidades + fotos/video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●●●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P0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Landing page + redes sociales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●●●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Kit profesional brokers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●●●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Foco comercial 1D y 3D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P1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Narrativa "Listo para vivir"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Confirmar Pet Friendly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P2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Monitoreo competitivo mensual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P3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Amoblar departamentos modelo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●●●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824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●●●</a:t>
                      </a:r>
                      <a:endParaRPr lang="en-US" sz="10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1810512"/>
            <a:ext cx="8229600" cy="694944"/>
          </a:xfrm>
          <a:prstGeom prst="rect">
            <a:avLst/>
          </a:prstGeom>
          <a:solidFill>
            <a:srgbClr val="B8906F">
              <a:alpha val="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Quick wins: Kit brokers + Pet Friendly (alto impacto, bajo costo)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AF7F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Condado VI tiene el mejor producto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FAF7F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 Equipetrol Centro.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 desafío no es el producto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sino cómo se comunica.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0" y="3291840"/>
            <a:ext cx="914400" cy="1371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657600"/>
            <a:ext cx="2194560" cy="1280160"/>
          </a:xfrm>
          <a:prstGeom prst="roundRect">
            <a:avLst>
              <a:gd name="adj" fmla="val 5714"/>
            </a:avLst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914400" y="36576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10/10
</a:t>
            </a:r>
            <a:pPr algn="ctr"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equipamiento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474720" y="3657600"/>
            <a:ext cx="2194560" cy="1280160"/>
          </a:xfrm>
          <a:prstGeom prst="roundRect">
            <a:avLst>
              <a:gd name="adj" fmla="val 5714"/>
            </a:avLst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3474720" y="36576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HOY
</a:t>
            </a:r>
            <a:pPr algn="ctr"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035040" y="3657600"/>
            <a:ext cx="2194560" cy="1280160"/>
          </a:xfrm>
          <a:prstGeom prst="roundRect">
            <a:avLst>
              <a:gd name="adj" fmla="val 5714"/>
            </a:avLst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6035040" y="365760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906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♦
</a:t>
            </a:r>
            <a:pPr algn="ctr" indent="0" marL="0">
              <a:buNone/>
            </a:pPr>
            <a:r>
              <a:rPr lang="en-US" sz="11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Plaza Italia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información es la ventaja competitiva.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0" y="5852160"/>
            <a:ext cx="914400" cy="13716"/>
          </a:xfrm>
          <a:prstGeom prst="rect">
            <a:avLst/>
          </a:prstGeom>
          <a:solidFill>
            <a:srgbClr val="B8906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311 unidades verificadas · GPS · TC Bs 9.454 · Marzo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71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SICI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2026-03-13T01:38:23Z</dcterms:created>
  <dcterms:modified xsi:type="dcterms:W3CDTF">2026-03-13T01:38:23Z</dcterms:modified>
</cp:coreProperties>
</file>